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521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9ED3C-EFC6-2C43-4769-5BA543C6F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5F5AF7-1110-6685-53A8-7CCA1D9EB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1FBA6-E4E3-59F0-EB0F-EEA700690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144E1-8814-8E3B-DC5E-4E5EAB2246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439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1920240"/>
            <a:ext cx="2011680" cy="2011680"/>
          </a:xfrm>
          <a:prstGeom prst="ellipse">
            <a:avLst/>
          </a:prstGeom>
          <a:solidFill>
            <a:srgbClr val="102338"/>
          </a:solidFill>
          <a:ln w="12700">
            <a:solidFill>
              <a:srgbClr val="1023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17920" y="3017520"/>
            <a:ext cx="1097280" cy="1097280"/>
          </a:xfrm>
          <a:prstGeom prst="ellipse">
            <a:avLst/>
          </a:prstGeom>
          <a:solidFill>
            <a:srgbClr val="00C4B4">
              <a:alpha val="40000"/>
            </a:srgbClr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TOOLKIT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ForecastMate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Future. Power Your Decisions.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end-to-end forecasting framework powered by advanced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models, machine learning, and LLM-driven insights.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ForecastMate?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BF2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2296" cy="141732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0698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ForecastMate is a comprehensive forecasting toolkit designed to predict future outcomes from historical data through the application of advanced statistical and machine learning models. It offers an end-to-end forecasting framework, seamlessly integrating analytical rigor with business intelligence, and is further enhanced by LLM-driven insights and recommendations to support informed decision-making.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2606040"/>
            <a:ext cx="2724912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BF2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606040"/>
            <a:ext cx="82296" cy="2240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21208" y="2724912"/>
            <a:ext cx="402336" cy="402336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1208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33272" y="2743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Framework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182112"/>
            <a:ext cx="24231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ingestion to final forecast output — a complete, unified pipeline.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27832" y="2606040"/>
            <a:ext cx="2724912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BF2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27832" y="2606040"/>
            <a:ext cx="82296" cy="2240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29000" y="2724912"/>
            <a:ext cx="402336" cy="402336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29000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41064" y="2743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&amp; ML Models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10712" y="3182112"/>
            <a:ext cx="24231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traditional statistical methods with modern machine learning for best-in-class accuracy.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35624" y="2606040"/>
            <a:ext cx="2724912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BF2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35624" y="2606040"/>
            <a:ext cx="82296" cy="2240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36792" y="2724912"/>
            <a:ext cx="402336" cy="402336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36792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48856" y="2743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Insights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18504" y="3182112"/>
            <a:ext cx="24231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Gemini to generate business recommendations and natural language guidance.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ForecastMate Can 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168" y="932688"/>
            <a:ext cx="1719072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BF2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932688"/>
            <a:ext cx="64008" cy="193852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" y="932688"/>
            <a:ext cx="1719072" cy="2560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950976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Data Ingestion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243584"/>
            <a:ext cx="159105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datasets via CSV or Excel files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directly to SQL Server to fetch 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60474" y="932688"/>
            <a:ext cx="1719072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BF2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60474" y="932688"/>
            <a:ext cx="64008" cy="193852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60474" y="932688"/>
            <a:ext cx="1719072" cy="2560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51914" y="950976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Forecast Setup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51914" y="1243584"/>
            <a:ext cx="159105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forecasting horizon (e.g., next 6 months)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aggregation rules based on business needs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19779" y="932688"/>
            <a:ext cx="1719072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BF2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19779" y="932688"/>
            <a:ext cx="64008" cy="193852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19779" y="932688"/>
            <a:ext cx="1719072" cy="2560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11219" y="950976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&amp; Exploration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11219" y="1243584"/>
            <a:ext cx="159105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aggregates the dataset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comprehensive EDA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correlated exogenous variables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79085" y="932688"/>
            <a:ext cx="1719072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BF2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79085" y="932688"/>
            <a:ext cx="64008" cy="193852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79085" y="932688"/>
            <a:ext cx="1719072" cy="2560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70525" y="950976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Execution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70525" y="1243584"/>
            <a:ext cx="159105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suite of statistical &amp; ML models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Incorporates EDA insights &amp; exogenous variables into modeling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238390" y="932688"/>
            <a:ext cx="1719072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BF2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38390" y="932688"/>
            <a:ext cx="64008" cy="193852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238390" y="932688"/>
            <a:ext cx="1719072" cy="2560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29830" y="950976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&amp; Evaluation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29830" y="1243584"/>
            <a:ext cx="159105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model performance using MAPE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Auto-selects the best-performing model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clear summary of results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01168" y="2962656"/>
            <a:ext cx="1719072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BF2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01168" y="2962656"/>
            <a:ext cx="64008" cy="193852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01168" y="2962656"/>
            <a:ext cx="1719072" cy="2560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92608" y="2980944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92608" y="3273552"/>
            <a:ext cx="159105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SzPct val="100000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business insights &amp; recommendations using Gemini (LLM)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960474" y="2962656"/>
            <a:ext cx="1719072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BF2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960474" y="2962656"/>
            <a:ext cx="64008" cy="193852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960474" y="2962656"/>
            <a:ext cx="1719072" cy="2560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051914" y="2980944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Model Execution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051914" y="3273552"/>
            <a:ext cx="159105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SzPct val="100000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users to run specific models of their choice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719779" y="2962656"/>
            <a:ext cx="1719072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BF2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719779" y="2962656"/>
            <a:ext cx="64008" cy="193852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719779" y="2962656"/>
            <a:ext cx="1719072" cy="2560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811219" y="2980944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11219" y="3273552"/>
            <a:ext cx="159105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"what-if" scenario simulations</a:t>
            </a:r>
            <a:endParaRPr lang="en-US" sz="105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comparison of different forecasting outcomes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79085" y="2962656"/>
            <a:ext cx="1719072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BF2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479085" y="2962656"/>
            <a:ext cx="64008" cy="193852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479085" y="2962656"/>
            <a:ext cx="1719072" cy="2560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570525" y="2980944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Reporting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70525" y="3273552"/>
            <a:ext cx="159105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SzPct val="100000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forecasted results along with predictions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238390" y="2962656"/>
            <a:ext cx="1719072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BF2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238390" y="2962656"/>
            <a:ext cx="64008" cy="193852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238390" y="2962656"/>
            <a:ext cx="1719072" cy="2560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329830" y="2980944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Chatbot Support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29830" y="3273552"/>
            <a:ext cx="159105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chatbot to assist at every step</a:t>
            </a:r>
            <a:endParaRPr lang="en-US" sz="105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actions or get guidance via natural language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ForecastMate is Different  (1 of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810512"/>
          </a:xfrm>
          <a:prstGeom prst="rect">
            <a:avLst/>
          </a:prstGeom>
          <a:solidFill>
            <a:srgbClr val="0D2B55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640080" cy="181051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6642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109728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Multi-Agentic Framework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4721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Composed of 4 intelligent agents: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1773936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Agent (data exploration)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 Agent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Execution Agent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 Agent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1472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Execution Agent includes 3 sub-agents: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773936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models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models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944368"/>
            <a:ext cx="4160520" cy="1938528"/>
          </a:xfrm>
          <a:prstGeom prst="rect">
            <a:avLst/>
          </a:prstGeom>
          <a:solidFill>
            <a:srgbClr val="0D2B55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944368"/>
            <a:ext cx="640080" cy="193852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369417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24128" y="305409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Bottom-to-Top Forecasting Approach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3465576"/>
            <a:ext cx="3273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full dataset into sub-datasets based on unique combinations of characteristic variables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models for each combination individually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best model using MAPE for each segment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results based on user requirements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bias vs. traditional Top-to-Bottom approaches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944368"/>
            <a:ext cx="4160520" cy="1938528"/>
          </a:xfrm>
          <a:prstGeom prst="rect">
            <a:avLst/>
          </a:prstGeom>
          <a:solidFill>
            <a:srgbClr val="0D2B55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2944368"/>
            <a:ext cx="640080" cy="193852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369417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58968" y="305409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&amp; Long-Tail Detection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58968" y="3465576"/>
            <a:ext cx="3273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detects cold-start cases (new SKUs/stores with limited data)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detects long-tail patterns (intermittent or sparse sales)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specialized modeling techniques for each pattern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similarity-based logic to forecast cold-start entities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ForecastMate is Different  (2 of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160520" cy="1965960"/>
          </a:xfrm>
          <a:prstGeom prst="rect">
            <a:avLst/>
          </a:prstGeom>
          <a:solidFill>
            <a:srgbClr val="0D2B55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640080" cy="196596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04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109728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ForecastMate AI (Chatbot)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472184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intelligent assistant for: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24128" y="1764792"/>
            <a:ext cx="32735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and recommendations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execution via natural language instructions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 conversational and user-friendly experience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987552"/>
            <a:ext cx="4160520" cy="1965960"/>
          </a:xfrm>
          <a:prstGeom prst="rect">
            <a:avLst/>
          </a:prstGeom>
          <a:solidFill>
            <a:srgbClr val="0D2B55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987552"/>
            <a:ext cx="640080" cy="196596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173736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05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58968" y="109728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Incorporation of Exogenous Variables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58968" y="1508760"/>
            <a:ext cx="327355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detects external variables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correlation with the target variable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highly correlated exogenous variables in models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manual selection of exogenous variables if needed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127248"/>
            <a:ext cx="4160520" cy="1719072"/>
          </a:xfrm>
          <a:prstGeom prst="rect">
            <a:avLst/>
          </a:prstGeom>
          <a:solidFill>
            <a:srgbClr val="0D2B55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127248"/>
            <a:ext cx="640080" cy="171907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74904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06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4128" y="3236976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Scenario Analysis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3630168"/>
            <a:ext cx="32735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users to run multiple scenarios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models or input variables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outcomes to support decision-making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3127248"/>
            <a:ext cx="4160520" cy="1719072"/>
          </a:xfrm>
          <a:prstGeom prst="rect">
            <a:avLst/>
          </a:prstGeom>
          <a:solidFill>
            <a:srgbClr val="0D2B55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3127248"/>
            <a:ext cx="640080" cy="171907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374904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58968" y="3236976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Processing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58968" y="3630168"/>
            <a:ext cx="32735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Utilizes all CPU cores of the local machine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multiple model computations in parallel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speed and overall efficiency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1554480" cy="512064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32688"/>
            <a:ext cx="1554480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162385"/>
            <a:ext cx="1554480" cy="22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Chat / Upload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896112"/>
            <a:ext cx="1554480" cy="5120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932688"/>
            <a:ext cx="1554480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162385"/>
            <a:ext cx="1554480" cy="22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896112"/>
            <a:ext cx="1554480" cy="512064"/>
          </a:xfrm>
          <a:prstGeom prst="rect">
            <a:avLst/>
          </a:prstGeom>
          <a:solidFill>
            <a:srgbClr val="0A5080"/>
          </a:solidFill>
          <a:ln w="12700">
            <a:solidFill>
              <a:srgbClr val="0A5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932688"/>
            <a:ext cx="1554480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1162385"/>
            <a:ext cx="1554480" cy="22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Flask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896112"/>
            <a:ext cx="1554480" cy="512064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932688"/>
            <a:ext cx="1554480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0" y="1162385"/>
            <a:ext cx="1554480" cy="22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Agent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74520" y="1152144"/>
            <a:ext cx="594360" cy="0"/>
          </a:xfrm>
          <a:prstGeom prst="line">
            <a:avLst/>
          </a:prstGeom>
          <a:noFill/>
          <a:ln w="2286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29028" y="106527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C4B4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23360" y="1152144"/>
            <a:ext cx="594360" cy="0"/>
          </a:xfrm>
          <a:prstGeom prst="line">
            <a:avLst/>
          </a:prstGeom>
          <a:noFill/>
          <a:ln w="2286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93108" y="10728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C4B4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72200" y="1152144"/>
            <a:ext cx="594360" cy="0"/>
          </a:xfrm>
          <a:prstGeom prst="line">
            <a:avLst/>
          </a:prstGeom>
          <a:noFill/>
          <a:ln w="2286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41948" y="10728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C4B4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43800" y="1408176"/>
            <a:ext cx="0" cy="265176"/>
          </a:xfrm>
          <a:prstGeom prst="line">
            <a:avLst/>
          </a:prstGeom>
          <a:noFill/>
          <a:ln w="2286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79208" y="1463893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4B4"/>
                </a:solidFill>
              </a:rPr>
              <a:t>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1673352"/>
            <a:ext cx="2971800" cy="0"/>
          </a:xfrm>
          <a:prstGeom prst="line">
            <a:avLst/>
          </a:prstGeom>
          <a:noFill/>
          <a:ln w="2286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07408" y="167335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4B4"/>
                </a:solidFill>
              </a:rPr>
              <a:t>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1168" y="1847088"/>
            <a:ext cx="8741664" cy="2340864"/>
          </a:xfrm>
          <a:prstGeom prst="rect">
            <a:avLst/>
          </a:prstGeom>
          <a:solidFill>
            <a:srgbClr val="0B2040"/>
          </a:solidFill>
          <a:ln w="1524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01168" y="1847088"/>
            <a:ext cx="8741664" cy="301752"/>
          </a:xfrm>
          <a:prstGeom prst="rect">
            <a:avLst/>
          </a:prstGeom>
          <a:solidFill>
            <a:srgbClr val="112D50"/>
          </a:solidFill>
          <a:ln w="1524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92608" y="1874520"/>
            <a:ext cx="8558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2249424"/>
            <a:ext cx="1645920" cy="1828800"/>
          </a:xfrm>
          <a:prstGeom prst="rect">
            <a:avLst/>
          </a:prstGeom>
          <a:solidFill>
            <a:srgbClr val="0D2B55"/>
          </a:solidFill>
          <a:ln w="1016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65760" y="2249424"/>
            <a:ext cx="1645920" cy="27432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22677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EDA Agent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2578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8912" y="2871216"/>
            <a:ext cx="14996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profiling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detection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176272" y="2249424"/>
            <a:ext cx="1645920" cy="1828800"/>
          </a:xfrm>
          <a:prstGeom prst="rect">
            <a:avLst/>
          </a:prstGeom>
          <a:solidFill>
            <a:srgbClr val="0D2B55"/>
          </a:solidFill>
          <a:ln w="1016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176272" y="2249424"/>
            <a:ext cx="1645920" cy="27432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176272" y="22677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Pattern Agent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176272" y="2578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PatternIQ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49424" y="2871216"/>
            <a:ext cx="14996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detection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patterns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sales logic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86784" y="2249424"/>
            <a:ext cx="3017520" cy="1828800"/>
          </a:xfrm>
          <a:prstGeom prst="rect">
            <a:avLst/>
          </a:prstGeom>
          <a:solidFill>
            <a:srgbClr val="0D2B55"/>
          </a:solidFill>
          <a:ln w="1016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986784" y="2249424"/>
            <a:ext cx="3017520" cy="27432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986784" y="226771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Model Agent  (ModelDirector)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078224" y="2596896"/>
            <a:ext cx="877824" cy="1389888"/>
          </a:xfrm>
          <a:prstGeom prst="rect">
            <a:avLst/>
          </a:prstGeom>
          <a:solidFill>
            <a:srgbClr val="0A2040"/>
          </a:solidFill>
          <a:ln w="762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078224" y="2596896"/>
            <a:ext cx="877824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078224" y="260604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123944" y="2852928"/>
            <a:ext cx="78638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models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047488" y="2596896"/>
            <a:ext cx="877824" cy="1389888"/>
          </a:xfrm>
          <a:prstGeom prst="rect">
            <a:avLst/>
          </a:prstGeom>
          <a:solidFill>
            <a:srgbClr val="0A2040"/>
          </a:solidFill>
          <a:ln w="762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047488" y="2596896"/>
            <a:ext cx="877824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47488" y="260604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093208" y="2852928"/>
            <a:ext cx="78638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logic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016752" y="2596896"/>
            <a:ext cx="877824" cy="1389888"/>
          </a:xfrm>
          <a:prstGeom prst="rect">
            <a:avLst/>
          </a:prstGeom>
          <a:solidFill>
            <a:srgbClr val="0A2040"/>
          </a:solidFill>
          <a:ln w="762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016752" y="2596896"/>
            <a:ext cx="877824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016752" y="260604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062472" y="2852928"/>
            <a:ext cx="78638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patterns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168896" y="2249424"/>
            <a:ext cx="1645920" cy="1828800"/>
          </a:xfrm>
          <a:prstGeom prst="rect">
            <a:avLst/>
          </a:prstGeom>
          <a:solidFill>
            <a:srgbClr val="0D2B55"/>
          </a:solidFill>
          <a:ln w="10160">
            <a:solidFill>
              <a:srgbClr val="2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168896" y="2249424"/>
            <a:ext cx="1645920" cy="27432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168896" y="22677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Insight Agent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168896" y="2578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StratosAI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242048" y="2871216"/>
            <a:ext cx="14996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insights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165860" y="4187952"/>
            <a:ext cx="0" cy="256032"/>
          </a:xfrm>
          <a:prstGeom prst="line">
            <a:avLst/>
          </a:prstGeom>
          <a:noFill/>
          <a:ln w="2286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001268" y="42336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4B4"/>
                </a:solidFill>
              </a:rPr>
              <a:t>▼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65760" y="4443984"/>
            <a:ext cx="1828800" cy="438912"/>
          </a:xfrm>
          <a:prstGeom prst="rect">
            <a:avLst/>
          </a:prstGeom>
          <a:solidFill>
            <a:srgbClr val="0A4060"/>
          </a:solidFill>
          <a:ln w="12700">
            <a:solidFill>
              <a:srgbClr val="0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65760" y="44714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65760" y="4672218"/>
            <a:ext cx="1828800" cy="193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+ Threads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194560" y="4663440"/>
            <a:ext cx="182880" cy="0"/>
          </a:xfrm>
          <a:prstGeom prst="line">
            <a:avLst/>
          </a:prstGeom>
          <a:noFill/>
          <a:ln w="2286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2235708" y="457657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C4B4"/>
                </a:solidFill>
              </a:rPr>
              <a:t>▶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377440" y="4443984"/>
            <a:ext cx="1828800" cy="438912"/>
          </a:xfrm>
          <a:prstGeom prst="rect">
            <a:avLst/>
          </a:prstGeom>
          <a:solidFill>
            <a:srgbClr val="0A4060"/>
          </a:solidFill>
          <a:ln w="12700">
            <a:solidFill>
              <a:srgbClr val="0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377440" y="44714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2377440" y="4672218"/>
            <a:ext cx="1828800" cy="193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combination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206240" y="4663440"/>
            <a:ext cx="182880" cy="0"/>
          </a:xfrm>
          <a:prstGeom prst="line">
            <a:avLst/>
          </a:prstGeom>
          <a:noFill/>
          <a:ln w="2286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239768" y="458419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C4B4"/>
                </a:solidFill>
              </a:rPr>
              <a:t>▶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389120" y="4443984"/>
            <a:ext cx="1828800" cy="438912"/>
          </a:xfrm>
          <a:prstGeom prst="rect">
            <a:avLst/>
          </a:prstGeom>
          <a:solidFill>
            <a:srgbClr val="0A4060"/>
          </a:solidFill>
          <a:ln w="12700">
            <a:solidFill>
              <a:srgbClr val="0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389120" y="44714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Engine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389120" y="4672218"/>
            <a:ext cx="1828800" cy="193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217920" y="4663440"/>
            <a:ext cx="274320" cy="0"/>
          </a:xfrm>
          <a:prstGeom prst="line">
            <a:avLst/>
          </a:prstGeom>
          <a:noFill/>
          <a:ln w="2286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228588" y="457657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C4B4"/>
                </a:solidFill>
              </a:rPr>
              <a:t>▶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355080" y="4443984"/>
            <a:ext cx="210312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355080" y="44714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+ Insights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6355080" y="4672218"/>
            <a:ext cx="2103120" cy="193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Frontend</a:t>
            </a:r>
            <a:endParaRPr lang="en-US" sz="900" dirty="0"/>
          </a:p>
        </p:txBody>
      </p:sp>
      <p:sp>
        <p:nvSpPr>
          <p:cNvPr id="80" name="Shape 21">
            <a:extLst>
              <a:ext uri="{FF2B5EF4-FFF2-40B4-BE49-F238E27FC236}">
                <a16:creationId xmlns:a16="http://schemas.microsoft.com/office/drawing/2014/main" id="{0CBFCE25-07D3-BEB5-9957-9C2F40CF671C}"/>
              </a:ext>
            </a:extLst>
          </p:cNvPr>
          <p:cNvSpPr/>
          <p:nvPr/>
        </p:nvSpPr>
        <p:spPr>
          <a:xfrm>
            <a:off x="4572000" y="1673352"/>
            <a:ext cx="0" cy="86868"/>
          </a:xfrm>
          <a:prstGeom prst="line">
            <a:avLst/>
          </a:prstGeom>
          <a:noFill/>
          <a:ln w="2286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2739FE-8DE1-D1F8-0321-AFE0E5883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84D83A6-FD98-0E93-0AD9-F1117312B28E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5148BA-9739-38FB-DBAA-730F551C8FBE}"/>
              </a:ext>
            </a:extLst>
          </p:cNvPr>
          <p:cNvSpPr/>
          <p:nvPr/>
        </p:nvSpPr>
        <p:spPr>
          <a:xfrm>
            <a:off x="411480" y="73152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In Progress Tasks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A6EC872-CEFC-CA50-893B-B1EAB8464CBE}"/>
              </a:ext>
            </a:extLst>
          </p:cNvPr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5A83F03-946B-7CE5-04CB-EC73D23529CB}"/>
              </a:ext>
            </a:extLst>
          </p:cNvPr>
          <p:cNvSpPr/>
          <p:nvPr/>
        </p:nvSpPr>
        <p:spPr>
          <a:xfrm>
            <a:off x="274320" y="987552"/>
            <a:ext cx="4160520" cy="1965960"/>
          </a:xfrm>
          <a:prstGeom prst="rect">
            <a:avLst/>
          </a:prstGeom>
          <a:solidFill>
            <a:srgbClr val="0D2B55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E572846-3905-AF26-8517-E0C98807A4C2}"/>
              </a:ext>
            </a:extLst>
          </p:cNvPr>
          <p:cNvSpPr/>
          <p:nvPr/>
        </p:nvSpPr>
        <p:spPr>
          <a:xfrm>
            <a:off x="274320" y="987552"/>
            <a:ext cx="640080" cy="196596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8B9630E-F7E8-EF73-FBB3-F58CAF9DD556}"/>
              </a:ext>
            </a:extLst>
          </p:cNvPr>
          <p:cNvSpPr/>
          <p:nvPr/>
        </p:nvSpPr>
        <p:spPr>
          <a:xfrm>
            <a:off x="274320" y="173736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9718F6F-873D-BD1A-2785-B3FEDD83F0EC}"/>
              </a:ext>
            </a:extLst>
          </p:cNvPr>
          <p:cNvSpPr/>
          <p:nvPr/>
        </p:nvSpPr>
        <p:spPr>
          <a:xfrm>
            <a:off x="1024128" y="109728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Inclusion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C201B7A-26E6-8674-A065-E4BF410930A4}"/>
              </a:ext>
            </a:extLst>
          </p:cNvPr>
          <p:cNvSpPr/>
          <p:nvPr/>
        </p:nvSpPr>
        <p:spPr>
          <a:xfrm>
            <a:off x="1024128" y="1472184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98F8A7D-B178-4567-E987-B94577289820}"/>
              </a:ext>
            </a:extLst>
          </p:cNvPr>
          <p:cNvSpPr/>
          <p:nvPr/>
        </p:nvSpPr>
        <p:spPr>
          <a:xfrm>
            <a:off x="1024128" y="1764792"/>
            <a:ext cx="32735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Intermittent models – ADIDA, IMAPA, TSB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– </a:t>
            </a:r>
            <a:r>
              <a:rPr lang="en-US" sz="10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 – Linear regression, Ridge, Lasso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5E024E2-D246-0F5D-2294-E7683076C755}"/>
              </a:ext>
            </a:extLst>
          </p:cNvPr>
          <p:cNvSpPr/>
          <p:nvPr/>
        </p:nvSpPr>
        <p:spPr>
          <a:xfrm>
            <a:off x="4709160" y="987552"/>
            <a:ext cx="4160520" cy="1965960"/>
          </a:xfrm>
          <a:prstGeom prst="rect">
            <a:avLst/>
          </a:prstGeom>
          <a:solidFill>
            <a:srgbClr val="0D2B55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E1C29C0-4B99-A1E0-D095-ECBEFD3391BE}"/>
              </a:ext>
            </a:extLst>
          </p:cNvPr>
          <p:cNvSpPr/>
          <p:nvPr/>
        </p:nvSpPr>
        <p:spPr>
          <a:xfrm>
            <a:off x="4709160" y="987552"/>
            <a:ext cx="640080" cy="196596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6E13E7C-111E-7D00-38B7-476C73185536}"/>
              </a:ext>
            </a:extLst>
          </p:cNvPr>
          <p:cNvSpPr/>
          <p:nvPr/>
        </p:nvSpPr>
        <p:spPr>
          <a:xfrm>
            <a:off x="4709160" y="173736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AA66AA9-1C8E-78D5-2699-78B7FE3E9B21}"/>
              </a:ext>
            </a:extLst>
          </p:cNvPr>
          <p:cNvSpPr/>
          <p:nvPr/>
        </p:nvSpPr>
        <p:spPr>
          <a:xfrm>
            <a:off x="5458968" y="109728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the AI Insights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04A234B-1F00-611A-F9BF-96D891BDD2F5}"/>
              </a:ext>
            </a:extLst>
          </p:cNvPr>
          <p:cNvSpPr/>
          <p:nvPr/>
        </p:nvSpPr>
        <p:spPr>
          <a:xfrm>
            <a:off x="5458968" y="1508760"/>
            <a:ext cx="327355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GPT and Claude along with Gemini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numerical values in the insights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about future steps</a:t>
            </a:r>
            <a:endParaRPr lang="en-US" sz="10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B337F42-5BE3-02D5-F3E0-5A6F37C78034}"/>
              </a:ext>
            </a:extLst>
          </p:cNvPr>
          <p:cNvSpPr/>
          <p:nvPr/>
        </p:nvSpPr>
        <p:spPr>
          <a:xfrm>
            <a:off x="274319" y="3127248"/>
            <a:ext cx="4160519" cy="1719072"/>
          </a:xfrm>
          <a:prstGeom prst="rect">
            <a:avLst/>
          </a:prstGeom>
          <a:solidFill>
            <a:srgbClr val="0D2B55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EB348DA-DD0E-D06C-D907-9B79028F2995}"/>
              </a:ext>
            </a:extLst>
          </p:cNvPr>
          <p:cNvSpPr/>
          <p:nvPr/>
        </p:nvSpPr>
        <p:spPr>
          <a:xfrm>
            <a:off x="274320" y="3127248"/>
            <a:ext cx="640080" cy="171907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27F23F5-44F8-244D-9C10-4C62E4E6E609}"/>
              </a:ext>
            </a:extLst>
          </p:cNvPr>
          <p:cNvSpPr/>
          <p:nvPr/>
        </p:nvSpPr>
        <p:spPr>
          <a:xfrm>
            <a:off x="274320" y="374904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5A1F0BB-0851-E1D7-EAC2-738130A05015}"/>
              </a:ext>
            </a:extLst>
          </p:cNvPr>
          <p:cNvSpPr/>
          <p:nvPr/>
        </p:nvSpPr>
        <p:spPr>
          <a:xfrm>
            <a:off x="1024128" y="3236976"/>
            <a:ext cx="2969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B4"/>
                </a:solidFill>
                <a:latin typeface="Calibri" pitchFamily="34" charset="0"/>
                <a:cs typeface="Calibri" pitchFamily="34" charset="-120"/>
              </a:rPr>
              <a:t>Strengthen the </a:t>
            </a:r>
            <a:r>
              <a:rPr lang="en-US" sz="1200" b="1" dirty="0" err="1">
                <a:solidFill>
                  <a:srgbClr val="00C4B4"/>
                </a:solidFill>
                <a:latin typeface="Calibri" pitchFamily="34" charset="0"/>
                <a:cs typeface="Calibri" pitchFamily="34" charset="-120"/>
              </a:rPr>
              <a:t>ChatBot</a:t>
            </a:r>
            <a:endParaRPr lang="en-US" sz="1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971AE04-39F6-283B-36AE-277EEB77699C}"/>
              </a:ext>
            </a:extLst>
          </p:cNvPr>
          <p:cNvSpPr/>
          <p:nvPr/>
        </p:nvSpPr>
        <p:spPr>
          <a:xfrm>
            <a:off x="1024128" y="3630168"/>
            <a:ext cx="2969512" cy="1041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cs typeface="Calibri" pitchFamily="34" charset="-120"/>
              </a:rPr>
              <a:t>Suggestive pre-defined options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summary with next step suggestions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commands and work accordingly</a:t>
            </a:r>
            <a:endParaRPr lang="en-US" sz="10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7F1CD49-9590-78DB-9465-907F42F7043D}"/>
              </a:ext>
            </a:extLst>
          </p:cNvPr>
          <p:cNvSpPr/>
          <p:nvPr/>
        </p:nvSpPr>
        <p:spPr>
          <a:xfrm>
            <a:off x="4709160" y="3127248"/>
            <a:ext cx="4160520" cy="1719072"/>
          </a:xfrm>
          <a:prstGeom prst="rect">
            <a:avLst/>
          </a:prstGeom>
          <a:solidFill>
            <a:srgbClr val="0D2B55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F7B4834-9B4A-F91A-D1F2-CCCD192C2291}"/>
              </a:ext>
            </a:extLst>
          </p:cNvPr>
          <p:cNvSpPr/>
          <p:nvPr/>
        </p:nvSpPr>
        <p:spPr>
          <a:xfrm>
            <a:off x="4709160" y="3127248"/>
            <a:ext cx="640080" cy="171907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16D4936-4DA0-727B-59DD-A518E684E656}"/>
              </a:ext>
            </a:extLst>
          </p:cNvPr>
          <p:cNvSpPr/>
          <p:nvPr/>
        </p:nvSpPr>
        <p:spPr>
          <a:xfrm>
            <a:off x="4709160" y="374904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41D481C-94C6-65CD-4233-2E0F07689F9C}"/>
              </a:ext>
            </a:extLst>
          </p:cNvPr>
          <p:cNvSpPr/>
          <p:nvPr/>
        </p:nvSpPr>
        <p:spPr>
          <a:xfrm>
            <a:off x="5458968" y="3236976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B4"/>
                </a:solidFill>
                <a:latin typeface="Calibri" pitchFamily="34" charset="0"/>
                <a:cs typeface="Calibri" pitchFamily="34" charset="-120"/>
              </a:rPr>
              <a:t>UI Fixing and Checking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752B8B6-214A-0606-748C-9C4DEA06329F}"/>
              </a:ext>
            </a:extLst>
          </p:cNvPr>
          <p:cNvSpPr/>
          <p:nvPr/>
        </p:nvSpPr>
        <p:spPr>
          <a:xfrm>
            <a:off x="5458968" y="3630168"/>
            <a:ext cx="32735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cs typeface="Calibri" pitchFamily="34" charset="-120"/>
              </a:rPr>
              <a:t>Little bit UI changes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in details for each of the steps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333686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729</Words>
  <Application>Microsoft Macintosh PowerPoint</Application>
  <PresentationFormat>On-screen Show (16:9)</PresentationFormat>
  <Paragraphs>178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ForecastMate</dc:title>
  <dc:subject>PptxGenJS Presentation</dc:subject>
  <dc:creator>PptxGenJS</dc:creator>
  <cp:lastModifiedBy>Avirup Biswas</cp:lastModifiedBy>
  <cp:revision>3</cp:revision>
  <dcterms:created xsi:type="dcterms:W3CDTF">2026-03-23T11:13:40Z</dcterms:created>
  <dcterms:modified xsi:type="dcterms:W3CDTF">2026-07-09T15:35:38Z</dcterms:modified>
</cp:coreProperties>
</file>