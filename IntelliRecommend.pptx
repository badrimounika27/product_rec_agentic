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ka Badri" userId="8abbbc43-f656-4e1b-91fc-62907a2cef4f" providerId="ADAL" clId="{AA2DCA4E-3C63-4B96-BBBF-F0A5C4302BD6}"/>
    <pc:docChg chg="undo custSel delSld modSld">
      <pc:chgData name="Mounika Badri" userId="8abbbc43-f656-4e1b-91fc-62907a2cef4f" providerId="ADAL" clId="{AA2DCA4E-3C63-4B96-BBBF-F0A5C4302BD6}" dt="2026-07-13T10:36:20.113" v="28" actId="478"/>
      <pc:docMkLst>
        <pc:docMk/>
      </pc:docMkLst>
      <pc:sldChg chg="addSp delSp modSp mod">
        <pc:chgData name="Mounika Badri" userId="8abbbc43-f656-4e1b-91fc-62907a2cef4f" providerId="ADAL" clId="{AA2DCA4E-3C63-4B96-BBBF-F0A5C4302BD6}" dt="2026-07-13T10:36:01.664" v="27" actId="478"/>
        <pc:sldMkLst>
          <pc:docMk/>
          <pc:sldMk cId="0" sldId="256"/>
        </pc:sldMkLst>
        <pc:spChg chg="add del">
          <ac:chgData name="Mounika Badri" userId="8abbbc43-f656-4e1b-91fc-62907a2cef4f" providerId="ADAL" clId="{AA2DCA4E-3C63-4B96-BBBF-F0A5C4302BD6}" dt="2026-07-13T10:35:37.217" v="17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21.971" v="1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34.643" v="16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30" v="1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39.516" v="18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41.163" v="19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45.052" v="21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43.313" v="20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47.198" v="22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53.881" v="24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5:56.325" v="25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ounika Badri" userId="8abbbc43-f656-4e1b-91fc-62907a2cef4f" providerId="ADAL" clId="{AA2DCA4E-3C63-4B96-BBBF-F0A5C4302BD6}" dt="2026-07-13T10:35:51.775" v="23" actId="20577"/>
          <ac:spMkLst>
            <pc:docMk/>
            <pc:sldMk cId="0" sldId="256"/>
            <ac:spMk id="14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6:01.664" v="27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ounika Badri" userId="8abbbc43-f656-4e1b-91fc-62907a2cef4f" providerId="ADAL" clId="{AA2DCA4E-3C63-4B96-BBBF-F0A5C4302BD6}" dt="2026-07-13T10:35:59.715" v="26" actId="6549"/>
          <ac:spMkLst>
            <pc:docMk/>
            <pc:sldMk cId="0" sldId="256"/>
            <ac:spMk id="20" creationId="{00000000-0000-0000-0000-000000000000}"/>
          </ac:spMkLst>
        </pc:spChg>
      </pc:sldChg>
      <pc:sldChg chg="delSp mod">
        <pc:chgData name="Mounika Badri" userId="8abbbc43-f656-4e1b-91fc-62907a2cef4f" providerId="ADAL" clId="{AA2DCA4E-3C63-4B96-BBBF-F0A5C4302BD6}" dt="2026-07-13T10:36:20.113" v="28" actId="478"/>
        <pc:sldMkLst>
          <pc:docMk/>
          <pc:sldMk cId="0" sldId="258"/>
        </pc:sldMkLst>
        <pc:spChg chg="del">
          <ac:chgData name="Mounika Badri" userId="8abbbc43-f656-4e1b-91fc-62907a2cef4f" providerId="ADAL" clId="{AA2DCA4E-3C63-4B96-BBBF-F0A5C4302BD6}" dt="2026-07-13T10:36:20.113" v="28" actId="478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Mounika Badri" userId="8abbbc43-f656-4e1b-91fc-62907a2cef4f" providerId="ADAL" clId="{AA2DCA4E-3C63-4B96-BBBF-F0A5C4302BD6}" dt="2026-07-13T10:34:55.233" v="8" actId="478"/>
        <pc:sldMkLst>
          <pc:docMk/>
          <pc:sldMk cId="0" sldId="265"/>
        </pc:sldMkLst>
        <pc:spChg chg="del">
          <ac:chgData name="Mounika Badri" userId="8abbbc43-f656-4e1b-91fc-62907a2cef4f" providerId="ADAL" clId="{AA2DCA4E-3C63-4B96-BBBF-F0A5C4302BD6}" dt="2026-07-13T10:34:55.233" v="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4:24.045" v="0" actId="478"/>
          <ac:spMkLst>
            <pc:docMk/>
            <pc:sldMk cId="0" sldId="265"/>
            <ac:spMk id="42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4:31.390" v="2" actId="478"/>
          <ac:spMkLst>
            <pc:docMk/>
            <pc:sldMk cId="0" sldId="265"/>
            <ac:spMk id="43" creationId="{00000000-0000-0000-0000-000000000000}"/>
          </ac:spMkLst>
        </pc:spChg>
        <pc:spChg chg="mod">
          <ac:chgData name="Mounika Badri" userId="8abbbc43-f656-4e1b-91fc-62907a2cef4f" providerId="ADAL" clId="{AA2DCA4E-3C63-4B96-BBBF-F0A5C4302BD6}" dt="2026-07-13T10:34:33.763" v="3" actId="6549"/>
          <ac:spMkLst>
            <pc:docMk/>
            <pc:sldMk cId="0" sldId="265"/>
            <ac:spMk id="44" creationId="{00000000-0000-0000-0000-000000000000}"/>
          </ac:spMkLst>
        </pc:spChg>
        <pc:spChg chg="del">
          <ac:chgData name="Mounika Badri" userId="8abbbc43-f656-4e1b-91fc-62907a2cef4f" providerId="ADAL" clId="{AA2DCA4E-3C63-4B96-BBBF-F0A5C4302BD6}" dt="2026-07-13T10:34:44.849" v="6" actId="478"/>
          <ac:spMkLst>
            <pc:docMk/>
            <pc:sldMk cId="0" sldId="265"/>
            <ac:spMk id="45" creationId="{00000000-0000-0000-0000-000000000000}"/>
          </ac:spMkLst>
        </pc:spChg>
        <pc:spChg chg="mod">
          <ac:chgData name="Mounika Badri" userId="8abbbc43-f656-4e1b-91fc-62907a2cef4f" providerId="ADAL" clId="{AA2DCA4E-3C63-4B96-BBBF-F0A5C4302BD6}" dt="2026-07-13T10:34:37.461" v="4" actId="6549"/>
          <ac:spMkLst>
            <pc:docMk/>
            <pc:sldMk cId="0" sldId="265"/>
            <ac:spMk id="46" creationId="{00000000-0000-0000-0000-000000000000}"/>
          </ac:spMkLst>
        </pc:spChg>
        <pc:spChg chg="del mod">
          <ac:chgData name="Mounika Badri" userId="8abbbc43-f656-4e1b-91fc-62907a2cef4f" providerId="ADAL" clId="{AA2DCA4E-3C63-4B96-BBBF-F0A5C4302BD6}" dt="2026-07-13T10:34:50.161" v="7" actId="478"/>
          <ac:spMkLst>
            <pc:docMk/>
            <pc:sldMk cId="0" sldId="265"/>
            <ac:spMk id="47" creationId="{00000000-0000-0000-0000-000000000000}"/>
          </ac:spMkLst>
        </pc:spChg>
      </pc:sldChg>
      <pc:sldChg chg="del">
        <pc:chgData name="Mounika Badri" userId="8abbbc43-f656-4e1b-91fc-62907a2cef4f" providerId="ADAL" clId="{AA2DCA4E-3C63-4B96-BBBF-F0A5C4302BD6}" dt="2026-07-13T10:35:00.080" v="9" actId="47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85800"/>
            <a:ext cx="36576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900" b="1" i="0" dirty="0">
              <a:solidFill>
                <a:srgbClr val="FFF9F3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B4A"/>
                </a:solidFill>
                <a:latin typeface="Segoe UI"/>
              </a:rPr>
              <a:t>PRODUCT RECOMMENDATION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8229600" cy="14630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FF9F3"/>
                </a:solidFill>
                <a:latin typeface="Georgia"/>
              </a:rPr>
              <a:t>IntelliRecommend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82296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F5C518"/>
                </a:solidFill>
                <a:latin typeface="Georgia"/>
              </a:rPr>
              <a:t>Recommend Smarter. Grow Faster.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7863840" cy="11887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9F3"/>
                </a:solidFill>
                <a:latin typeface="Segoe UI"/>
              </a:rPr>
              <a:t>An AI-powered recommendation studio that turns your sales history into clear, ranked next-best-product suggestions - complete with forecasts, seasonal adjustments and promotion-aware volume.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000" b="1" i="0" dirty="0">
              <a:solidFill>
                <a:srgbClr val="FFF9F3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02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B1B24"/>
                </a:solidFill>
                <a:latin typeface="Georgia"/>
              </a:rPr>
              <a:t>The guessing game on the shelf.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5852160" cy="3246120"/>
          </a:xfrm>
          <a:prstGeom prst="roundRect">
            <a:avLst>
              <a:gd name="adj" fmla="val 5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60000" cy="32461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521208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F6B4A"/>
                </a:solidFill>
                <a:latin typeface="Georgia"/>
              </a:rPr>
              <a:t>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17520"/>
            <a:ext cx="5212080" cy="21031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FF9F3"/>
                </a:solidFill>
                <a:latin typeface="Georgia"/>
              </a:rPr>
              <a:t>“Most stores still guess which product to put next to which. And that quiet guesswork costs them the biggest chunk of avoidable sales.”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52120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518"/>
                </a:solidFill>
                <a:latin typeface="Segoe UI"/>
              </a:rPr>
              <a:t>— What we hear from retail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377440"/>
            <a:ext cx="47548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2468880"/>
            <a:ext cx="4206240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24"/>
                </a:solidFill>
                <a:latin typeface="Segoe UI"/>
              </a:rPr>
              <a:t>One-size-fits-all 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61488"/>
            <a:ext cx="4206240" cy="347472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A small boutique gets the same top-seller list as a giant hypermarket. They behave nothing alike.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218688"/>
            <a:ext cx="47548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0" y="3493008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3310128"/>
            <a:ext cx="4206240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24"/>
                </a:solidFill>
                <a:latin typeface="Segoe UI"/>
              </a:rPr>
              <a:t>Slow movers stay hidden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602736"/>
            <a:ext cx="4206240" cy="347472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New or rare products never get a fair turn because scoring only sees the already-popular items.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059936"/>
            <a:ext cx="47548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32320" y="4334256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4151376"/>
            <a:ext cx="4206240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24"/>
                </a:solidFill>
                <a:latin typeface="Segoe UI"/>
              </a:rPr>
              <a:t>Nobody trusts a black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443984"/>
            <a:ext cx="4206240" cy="347472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Store teams won't rearrange shelves based on a number nobody can explain in plain words.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4901184"/>
            <a:ext cx="47548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32320" y="5175504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4992624"/>
            <a:ext cx="4206240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B24"/>
                </a:solidFill>
                <a:latin typeface="Segoe UI"/>
              </a:rPr>
              <a:t>Suggestions ignore reality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285232"/>
            <a:ext cx="4206240" cy="347472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Recommendations don't know about busy seasons, promos or stock - so they end up in a report nobody uses.</a:t>
            </a:r>
          </a:p>
        </p:txBody>
      </p:sp>
      <p:sp>
        <p:nvSpPr>
          <p:cNvPr id="32" name="Oval 31"/>
          <p:cNvSpPr/>
          <p:nvPr/>
        </p:nvSpPr>
        <p:spPr>
          <a:xfrm>
            <a:off x="6035040" y="6035040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17920" y="6035040"/>
            <a:ext cx="91440" cy="9144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0800" y="6035040"/>
            <a:ext cx="91440" cy="91440"/>
          </a:xfrm>
          <a:prstGeom prst="ellipse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MEET INTELLIRECOMMEND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Meet IntelliRecommend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03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1B1B24"/>
                </a:solidFill>
                <a:latin typeface="Georgia"/>
              </a:rPr>
              <a:t>One studio. Four pillars.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6596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7A"/>
                </a:solidFill>
                <a:latin typeface="Segoe UI"/>
              </a:rPr>
              <a:t>Everything IntelliRecommend does maps back to four simple promises.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5394960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100584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6B4A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090672"/>
            <a:ext cx="3794760" cy="45720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1B24"/>
                </a:solidFill>
                <a:latin typeface="Georgia"/>
              </a:rPr>
              <a:t>Cross-sell that pays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611880"/>
            <a:ext cx="379476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7A"/>
                </a:solidFill>
                <a:latin typeface="Segoe UI"/>
              </a:rPr>
              <a:t>We spot the products that customers actually buy together in each store type, and turn them into shelf-ready pairing ideas.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83464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19088" y="2834640"/>
            <a:ext cx="5394960" cy="128016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8" y="3063240"/>
            <a:ext cx="100584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C518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090672"/>
            <a:ext cx="3794760" cy="45720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1B24"/>
                </a:solidFill>
                <a:latin typeface="Georgia"/>
              </a:rPr>
              <a:t>Every store its own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611880"/>
            <a:ext cx="379476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7A"/>
                </a:solidFill>
                <a:latin typeface="Segoe UI"/>
              </a:rPr>
              <a:t>Stores are grouped by how they behave, then each group gets its own ranking - so a boutique isn't judged by hypermarket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548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754880"/>
            <a:ext cx="5394960" cy="128016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100584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6BAA9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010912"/>
            <a:ext cx="3794760" cy="45720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1B24"/>
                </a:solidFill>
                <a:latin typeface="Georgia"/>
              </a:rPr>
              <a:t>Forecast, season and promo built-in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532120"/>
            <a:ext cx="379476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7A"/>
                </a:solidFill>
                <a:latin typeface="Segoe UI"/>
              </a:rPr>
              <a:t>Each suggestion also tells you how much to stock, adjusted for busy seasons and any promotion running.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4754880"/>
            <a:ext cx="53949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9088" y="4754880"/>
            <a:ext cx="5394960" cy="128016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93408" y="4983480"/>
            <a:ext cx="100584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E1A47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5010912"/>
            <a:ext cx="3794760" cy="45720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1B24"/>
                </a:solidFill>
                <a:latin typeface="Georgia"/>
              </a:rPr>
              <a:t>Talk to your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5532120"/>
            <a:ext cx="3794760" cy="8229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6B7A"/>
                </a:solidFill>
                <a:latin typeface="Segoe UI"/>
              </a:rPr>
              <a:t>A friendly AI assistant explains every recommendation in plain English, right where planners already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WHY WE'RE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Why We're Different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04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Not another black-box recommender.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7A"/>
                </a:solidFill>
                <a:latin typeface="Segoe UI"/>
              </a:rPr>
              <a:t>Here's what most recommendation tools do  -  and what IntelliRecommend does instead.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5074920" cy="384048"/>
          </a:xfrm>
          <a:prstGeom prst="roundRect">
            <a:avLst>
              <a:gd name="adj" fmla="val 20000"/>
            </a:avLst>
          </a:prstGeom>
          <a:solidFill>
            <a:srgbClr val="3E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5074920" cy="38404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9F3"/>
                </a:solidFill>
                <a:latin typeface="Segoe UI"/>
              </a:rPr>
              <a:t>MOST RECOMMENDATION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788920"/>
            <a:ext cx="5074920" cy="384048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5074920" cy="38404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1A47"/>
                </a:solidFill>
                <a:latin typeface="Segoe UI"/>
              </a:rPr>
              <a:t>INTELLIRECOMMEND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82696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7552" y="3410712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3282696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One list for every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282696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6B4A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282696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39712" y="342900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282696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Each store cluster gets its own logic and its own top picks.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76472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7552" y="3904488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3776472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Only says what to sell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776472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C518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776472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39712" y="3922776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776472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Says what to sell AND how much to stock, with a forecast attached.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270248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87552" y="4398264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4270248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A score with no reason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270248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AA9F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270248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39712" y="4416552"/>
            <a:ext cx="146304" cy="146304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78040" y="4270248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Every suggestion answers 'why?' in plain English, on the same card.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764024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7552" y="4892040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25880" y="4764024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You read static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4764024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6B4A"/>
                </a:solidFill>
                <a:latin typeface="Segoe U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4764024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39712" y="4910328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78040" y="4764024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You chat with the data - ask follow-ups, get proactive next steps.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257800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7552" y="5385816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25880" y="5257800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Ignores seasons and promos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5257800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C518"/>
                </a:solidFill>
                <a:latin typeface="Segoe UI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5257800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39712" y="5404104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78040" y="5257800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Automatically adjusts for peak seasons and active promotions.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751576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87552" y="5879592"/>
            <a:ext cx="182880" cy="182880"/>
          </a:xfrm>
          <a:prstGeom prst="ellipse">
            <a:avLst/>
          </a:prstGeom>
          <a:solidFill>
            <a:srgbClr val="A8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25880" y="5751576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A8A0B0"/>
                </a:solidFill>
                <a:latin typeface="Segoe UI"/>
              </a:rPr>
              <a:t>Locked-in vendor black box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5751576"/>
            <a:ext cx="7772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AA9F"/>
                </a:solidFill>
                <a:latin typeface="Segoe U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5751576"/>
            <a:ext cx="507492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839712" y="5897880"/>
            <a:ext cx="146304" cy="146304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78040" y="5751576"/>
            <a:ext cx="4434840" cy="438912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13 open steps. Every result is a plain CSV you can inspect and re-run.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05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1B24"/>
                </a:solidFill>
                <a:latin typeface="Georgia"/>
              </a:rPr>
              <a:t>From sales history to a decision, in four steps.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6596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2834640"/>
            <a:ext cx="10058400" cy="10000"/>
          </a:xfrm>
          <a:prstGeom prst="rect">
            <a:avLst/>
          </a:prstGeom>
          <a:solidFill>
            <a:srgbClr val="6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25396" y="2688336"/>
            <a:ext cx="292608" cy="292608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67700" y="2980944"/>
            <a:ext cx="8000" cy="27432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429000"/>
            <a:ext cx="2057400" cy="7315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6B4A"/>
                </a:solidFill>
                <a:latin typeface="Georg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51960"/>
            <a:ext cx="205740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24"/>
                </a:solidFill>
                <a:latin typeface="Georgia"/>
              </a:rPr>
              <a:t>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00600"/>
            <a:ext cx="2057400" cy="132588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Drop in your sales history or connect to your database.</a:t>
            </a:r>
          </a:p>
        </p:txBody>
      </p:sp>
      <p:sp>
        <p:nvSpPr>
          <p:cNvPr id="18" name="Oval 17"/>
          <p:cNvSpPr/>
          <p:nvPr/>
        </p:nvSpPr>
        <p:spPr>
          <a:xfrm>
            <a:off x="4841748" y="2688336"/>
            <a:ext cx="292608" cy="29260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4052" y="2980944"/>
            <a:ext cx="8000" cy="27432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39312" y="32004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59352" y="3429000"/>
            <a:ext cx="2057400" cy="7315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C518"/>
                </a:solidFill>
                <a:latin typeface="Georgia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4251960"/>
            <a:ext cx="205740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24"/>
                </a:solidFill>
                <a:latin typeface="Georgia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4800600"/>
            <a:ext cx="2057400" cy="132588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Group similar stores, find items that sell together, rank the best matches.</a:t>
            </a:r>
          </a:p>
        </p:txBody>
      </p:sp>
      <p:sp>
        <p:nvSpPr>
          <p:cNvPr id="24" name="Oval 23"/>
          <p:cNvSpPr/>
          <p:nvPr/>
        </p:nvSpPr>
        <p:spPr>
          <a:xfrm>
            <a:off x="7658100" y="2688336"/>
            <a:ext cx="292608" cy="292608"/>
          </a:xfrm>
          <a:prstGeom prst="ellipse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00404" y="2980944"/>
            <a:ext cx="8000" cy="27432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55664" y="32004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75704" y="3429000"/>
            <a:ext cx="2057400" cy="7315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6BAA9F"/>
                </a:solidFill>
                <a:latin typeface="Georgia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4251960"/>
            <a:ext cx="205740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24"/>
                </a:solidFill>
                <a:latin typeface="Georgia"/>
              </a:rPr>
              <a:t>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4800600"/>
            <a:ext cx="2057400" cy="132588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Add expected amounts, adjust for seasons and any live promotions.</a:t>
            </a:r>
          </a:p>
        </p:txBody>
      </p:sp>
      <p:sp>
        <p:nvSpPr>
          <p:cNvPr id="30" name="Oval 29"/>
          <p:cNvSpPr/>
          <p:nvPr/>
        </p:nvSpPr>
        <p:spPr>
          <a:xfrm>
            <a:off x="10474452" y="2688336"/>
            <a:ext cx="292608" cy="292608"/>
          </a:xfrm>
          <a:prstGeom prst="ellipse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616756" y="2980944"/>
            <a:ext cx="8000" cy="27432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72016" y="3200400"/>
            <a:ext cx="269748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92056" y="3429000"/>
            <a:ext cx="2057400" cy="7315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2E1A47"/>
                </a:solidFill>
                <a:latin typeface="Georgia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2056" y="4251960"/>
            <a:ext cx="205740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B1B24"/>
                </a:solidFill>
                <a:latin typeface="Georgia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4800600"/>
            <a:ext cx="2057400" cy="132588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Read the reason, ask the assistant a question, and approve.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UNDER THE 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Under the 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06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The 13-step engine, in four phases.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Every step is a small, focused job. Each one writes its result to a file, so we can re-run any part and prove any number.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1737360" cy="777240"/>
          </a:xfrm>
          <a:prstGeom prst="roundRect">
            <a:avLst>
              <a:gd name="adj" fmla="val 20000"/>
            </a:avLst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1737360" cy="77724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B24"/>
                </a:solidFill>
                <a:latin typeface="Segoe UI"/>
              </a:rPr>
              <a:t>PREPARE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39796"/>
            <a:ext cx="276453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2939796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6B4A"/>
                </a:solidFill>
                <a:latin typeface="Georg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939796"/>
            <a:ext cx="1987296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Data Prep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5752" y="2939796"/>
            <a:ext cx="276453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18632" y="2939796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6B4A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1552" y="2939796"/>
            <a:ext cx="1987296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28304" y="2939796"/>
            <a:ext cx="276453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1184" y="2939796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6B4A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4104" y="2939796"/>
            <a:ext cx="1987296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Clustering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58184"/>
            <a:ext cx="1737360" cy="777240"/>
          </a:xfrm>
          <a:prstGeom prst="roundRect">
            <a:avLst>
              <a:gd name="adj" fmla="val 20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758184"/>
            <a:ext cx="1737360" cy="77724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B24"/>
                </a:solidFill>
                <a:latin typeface="Segoe UI"/>
              </a:rPr>
              <a:t>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863340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26080" y="3863340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C518"/>
                </a:solidFill>
                <a:latin typeface="Georgi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863340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FP-Growth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12614" y="3863340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5494" y="3863340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C518"/>
                </a:solidFill>
                <a:latin typeface="Georgi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8414" y="3863340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Popularity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2028" y="3863340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4908" y="3863340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C518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7828" y="3863340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1442" y="3863340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4322" y="3863340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C518"/>
                </a:solidFill>
                <a:latin typeface="Georgia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7242" y="3863340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Post-Processing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681728"/>
            <a:ext cx="1737360" cy="777240"/>
          </a:xfrm>
          <a:prstGeom prst="roundRect">
            <a:avLst>
              <a:gd name="adj" fmla="val 20000"/>
            </a:avLst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4681728"/>
            <a:ext cx="1737360" cy="77724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B24"/>
                </a:solidFill>
                <a:latin typeface="Segoe UI"/>
              </a:rPr>
              <a:t>FORECAST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0" y="4786884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80" y="4786884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AA9F"/>
                </a:solidFill>
                <a:latin typeface="Georgia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786884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Amount Forecast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12614" y="4786884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95494" y="4786884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AA9F"/>
                </a:solidFill>
                <a:latin typeface="Georgia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8414" y="4786884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Seasonality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82028" y="4786884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64908" y="4786884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AA9F"/>
                </a:solidFill>
                <a:latin typeface="Georgi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7828" y="4786884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Promo Uplift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51442" y="4786884"/>
            <a:ext cx="2041398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34322" y="4786884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AA9F"/>
                </a:solidFill>
                <a:latin typeface="Georgia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7242" y="4786884"/>
            <a:ext cx="1264158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Volume Forecast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605272"/>
            <a:ext cx="1737360" cy="777240"/>
          </a:xfrm>
          <a:prstGeom prst="roundRect">
            <a:avLst>
              <a:gd name="adj" fmla="val 2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5605272"/>
            <a:ext cx="1737360" cy="77724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9F3"/>
                </a:solidFill>
                <a:latin typeface="Segoe UI"/>
              </a:rPr>
              <a:t>DELIVER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5710428"/>
            <a:ext cx="4210812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2E1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26080" y="5710428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1A47"/>
                </a:solidFill>
                <a:latin typeface="Georgia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5710428"/>
            <a:ext cx="3433572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Explainability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82028" y="5710428"/>
            <a:ext cx="4210812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2E1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64908" y="5710428"/>
            <a:ext cx="502920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1A47"/>
                </a:solidFill>
                <a:latin typeface="Georgia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67828" y="5710428"/>
            <a:ext cx="3433572" cy="56692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1B24"/>
                </a:solidFill>
                <a:latin typeface="Segoe UI"/>
              </a:rPr>
              <a:t>Final Output</a:t>
            </a:r>
          </a:p>
        </p:txBody>
      </p:sp>
      <p:sp>
        <p:nvSpPr>
          <p:cNvPr id="59" name="Oval 58"/>
          <p:cNvSpPr/>
          <p:nvPr/>
        </p:nvSpPr>
        <p:spPr>
          <a:xfrm>
            <a:off x="11064240" y="6126480"/>
            <a:ext cx="91440" cy="91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247119" y="6126480"/>
            <a:ext cx="91440" cy="9144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430000" y="6126480"/>
            <a:ext cx="91440" cy="91440"/>
          </a:xfrm>
          <a:prstGeom prst="ellipse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AGENTIC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Agentic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07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One orchestrator. Eight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An orchestrator agent runs the whole show. Under it, eight specialist agents each handle one job of the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0561320" cy="3566160"/>
          </a:xfrm>
          <a:prstGeom prst="roundRect">
            <a:avLst>
              <a:gd name="adj" fmla="val 3000"/>
            </a:avLst>
          </a:prstGeom>
          <a:solidFill>
            <a:srgbClr val="FBEEE1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34440" y="3017520"/>
            <a:ext cx="3108960" cy="3108960"/>
          </a:xfrm>
          <a:prstGeom prst="ellipse">
            <a:avLst/>
          </a:prstGeom>
          <a:noFill/>
          <a:ln w="12700">
            <a:solidFill>
              <a:srgbClr val="6BAA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17320" y="3200400"/>
            <a:ext cx="2743200" cy="2743200"/>
          </a:xfrm>
          <a:prstGeom prst="ellipse">
            <a:avLst/>
          </a:prstGeom>
          <a:noFill/>
          <a:ln w="12700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08760" y="3291840"/>
            <a:ext cx="2560320" cy="2560320"/>
          </a:xfrm>
          <a:prstGeom prst="ellipse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24912" y="2953512"/>
            <a:ext cx="128016" cy="128016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824095" y="3408809"/>
            <a:ext cx="128016" cy="12801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79392" y="4507992"/>
            <a:ext cx="128016" cy="128016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24095" y="5607175"/>
            <a:ext cx="128016" cy="12801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24912" y="6062472"/>
            <a:ext cx="128016" cy="128016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25729" y="5607175"/>
            <a:ext cx="128016" cy="12801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70432" y="4507992"/>
            <a:ext cx="128016" cy="128016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625729" y="3408809"/>
            <a:ext cx="128016" cy="128016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08760" y="4069080"/>
            <a:ext cx="2560320" cy="36576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C518"/>
                </a:solidFill>
                <a:latin typeface="Segoe UI"/>
              </a:rPr>
              <a:t>THE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89120"/>
            <a:ext cx="2560320" cy="5029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9F3"/>
                </a:solidFill>
                <a:latin typeface="Georgia"/>
              </a:rPr>
              <a:t>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892040"/>
            <a:ext cx="2194560" cy="6858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9F3"/>
                </a:solidFill>
                <a:latin typeface="Segoe UI"/>
              </a:rPr>
              <a:t>Runs the 13 steps in order, shares data between agents, and stops the moment something goes wrong.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599" y="310896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00599" y="3108960"/>
            <a:ext cx="1497330" cy="9144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49289" y="323697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6B4A"/>
                </a:solidFill>
                <a:latin typeface="Georgia"/>
              </a:rPr>
              <a:t>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3310128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79" y="354787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Data Prep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79" y="406908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35089" y="310896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35089" y="3108960"/>
            <a:ext cx="1497330" cy="9144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83779" y="323697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C518"/>
                </a:solidFill>
                <a:latin typeface="Georgia"/>
              </a:rPr>
              <a:t>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17969" y="3310128"/>
            <a:ext cx="128016" cy="128016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17969" y="354787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Feature Eng.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7969" y="406908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9579" y="310896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69579" y="3108960"/>
            <a:ext cx="1497330" cy="9144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18269" y="323697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BAA9F"/>
                </a:solidFill>
                <a:latin typeface="Georgia"/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52459" y="3310128"/>
            <a:ext cx="128016" cy="128016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52459" y="354787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Clustering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2459" y="406908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04069" y="310896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704069" y="3108960"/>
            <a:ext cx="1497330" cy="9144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52759" y="323697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1A47"/>
                </a:solidFill>
                <a:latin typeface="Georgia"/>
              </a:rPr>
              <a:t>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86949" y="3310128"/>
            <a:ext cx="128016" cy="128016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86949" y="354787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Reco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86949" y="406908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04-06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00599" y="466344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800599" y="4663440"/>
            <a:ext cx="1497330" cy="9144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49289" y="479145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6B4A"/>
                </a:solidFill>
                <a:latin typeface="Georgia"/>
              </a:rPr>
              <a:t>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83479" y="4864608"/>
            <a:ext cx="128016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83479" y="510235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Post-Process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83479" y="562356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35089" y="466344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35089" y="4663440"/>
            <a:ext cx="1497330" cy="9144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83779" y="479145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C518"/>
                </a:solidFill>
                <a:latin typeface="Georgia"/>
              </a:rPr>
              <a:t>06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17969" y="4864608"/>
            <a:ext cx="128016" cy="128016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17969" y="510235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Forecasting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17969" y="562356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08-11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69579" y="466344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069579" y="4663440"/>
            <a:ext cx="1497330" cy="9144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018269" y="479145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BAA9F"/>
                </a:solidFill>
                <a:latin typeface="Georgia"/>
              </a:rPr>
              <a:t>07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52459" y="4864608"/>
            <a:ext cx="128016" cy="128016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52459" y="510235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Explainability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52459" y="562356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12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04069" y="4663440"/>
            <a:ext cx="14973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704069" y="4663440"/>
            <a:ext cx="1497330" cy="91440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652759" y="4791456"/>
            <a:ext cx="50292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1A47"/>
                </a:solidFill>
                <a:latin typeface="Georgia"/>
              </a:rPr>
              <a:t>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86949" y="4864608"/>
            <a:ext cx="128016" cy="128016"/>
          </a:xfrm>
          <a:prstGeom prst="rect">
            <a:avLst/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886949" y="5102352"/>
            <a:ext cx="1131570" cy="402336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B24"/>
                </a:solidFill>
                <a:latin typeface="Segoe UI"/>
              </a:rPr>
              <a:t>Output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86949" y="5623560"/>
            <a:ext cx="1131570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6B7A"/>
                </a:solidFill>
                <a:latin typeface="Segoe UI"/>
              </a:rPr>
              <a:t>Step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08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Built on tools you already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Nothing exotic - a modern Python and React stack, so it plugs into what you already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346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73152" cy="173736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3035808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B4A"/>
                </a:solidFill>
                <a:latin typeface="Segoe UI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Python 3.11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38044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8044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FastAPI + Pydantic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Uvicorn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38044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38044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Google ADK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28346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62272" y="2834640"/>
            <a:ext cx="73152" cy="173736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18304" y="3035808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C518"/>
                </a:solidFill>
                <a:latin typeface="Segoe UI"/>
              </a:rPr>
              <a:t>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18304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18304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scikit-learn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7356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77356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mlxtend (FP-Growth)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18304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implicit (ALS)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7356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77356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statsmodels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4" y="2834640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01584" y="2834640"/>
            <a:ext cx="73152" cy="173736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57616" y="3035808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AA9F"/>
                </a:solidFill>
                <a:latin typeface="Segoe UI"/>
              </a:rPr>
              <a:t>DATA &amp; I/O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57616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57616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pandas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16668" y="3474720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16668" y="3474720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numpy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57616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CSV artifacts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16668" y="3822192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16668" y="3822192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kneed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4718304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" y="4718304"/>
            <a:ext cx="73152" cy="173736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4919472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6B4A"/>
                </a:solidFill>
                <a:latin typeface="Segoe UI"/>
              </a:rPr>
              <a:t>AI LAYER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8992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Gemini 2.0 Flash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38044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38044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Structured insights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8992" y="5705856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" y="5705856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Chat memory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62272" y="4718304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62272" y="4718304"/>
            <a:ext cx="73152" cy="173736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18304" y="4919472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C518"/>
                </a:solidFill>
                <a:latin typeface="Segoe UI"/>
              </a:rPr>
              <a:t>FRONTEND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18304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18304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React 18 + Vite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77356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77356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TypeScript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18304" y="5705856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18304" y="5705856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TailwindCSS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77356" y="5705856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77356" y="5705856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Recharts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01584" y="4718304"/>
            <a:ext cx="35204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101584" y="4718304"/>
            <a:ext cx="73152" cy="173736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57616" y="4919472"/>
            <a:ext cx="315468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AA9F"/>
                </a:solidFill>
                <a:latin typeface="Segoe UI"/>
              </a:rPr>
              <a:t>DEVOPS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57616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57616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.env config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16668" y="5358384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916668" y="5358384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runtime_config.json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57616" y="5705856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7616" y="5705856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Swagger /docs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16668" y="5705856"/>
            <a:ext cx="1476756" cy="292608"/>
          </a:xfrm>
          <a:prstGeom prst="roundRect">
            <a:avLst>
              <a:gd name="adj" fmla="val 35000"/>
            </a:avLst>
          </a:prstGeom>
          <a:solidFill>
            <a:srgbClr val="FBE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16668" y="5705856"/>
            <a:ext cx="1476756" cy="292608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1B24"/>
                </a:solidFill>
                <a:latin typeface="Segoe UI"/>
              </a:rPr>
              <a:t>Static dist serving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92240"/>
            <a:ext cx="11155680" cy="9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09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Recommendations that move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3520440" cy="128016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2971800" cy="105156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6B4A"/>
                </a:solidFill>
                <a:latin typeface="Georgia"/>
              </a:rPr>
              <a:t>+15%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297180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9F3"/>
                </a:solidFill>
                <a:latin typeface="Segoe UI"/>
              </a:rPr>
              <a:t>Bigger baskets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29718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C518"/>
                </a:solidFill>
                <a:latin typeface="Segoe UI"/>
              </a:rPr>
              <a:t>Store-tuned suggestions replace generic best-sellers on the shelf.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23774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62272" y="2377440"/>
            <a:ext cx="3520440" cy="128016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2651760"/>
            <a:ext cx="2971800" cy="105156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5C518"/>
                </a:solidFill>
                <a:latin typeface="Georgia"/>
              </a:rPr>
              <a:t>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3794760"/>
            <a:ext cx="297180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9F3"/>
                </a:solidFill>
                <a:latin typeface="Segoe UI"/>
              </a:rPr>
              <a:t>Faster planner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160520"/>
            <a:ext cx="29718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C518"/>
                </a:solidFill>
                <a:latin typeface="Segoe UI"/>
              </a:rPr>
              <a:t>Plain-English reasons + chat cut approval time to a fraction.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4" y="237744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1584" y="2377440"/>
            <a:ext cx="3520440" cy="128016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5904" y="2651760"/>
            <a:ext cx="2971800" cy="105156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6BAA9F"/>
                </a:solidFill>
                <a:latin typeface="Georgia"/>
              </a:rPr>
              <a:t>13/13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794760"/>
            <a:ext cx="2971800" cy="36576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9F3"/>
                </a:solidFill>
                <a:latin typeface="Segoe UI"/>
              </a:rPr>
              <a:t>Auditable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4160520"/>
            <a:ext cx="2971800" cy="5486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C518"/>
                </a:solidFill>
                <a:latin typeface="Segoe UI"/>
              </a:rPr>
              <a:t>Every step writes a file. Re-run any of the 13, prove any number.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92040"/>
            <a:ext cx="10561320" cy="1234440"/>
          </a:xfrm>
          <a:prstGeom prst="roundRect">
            <a:avLst>
              <a:gd name="adj" fmla="val 4000"/>
            </a:avLst>
          </a:prstGeom>
          <a:solidFill>
            <a:srgbClr val="FBEEE1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4892040"/>
            <a:ext cx="60000" cy="123444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029200"/>
            <a:ext cx="10149840" cy="100584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B24"/>
                </a:solidFill>
                <a:latin typeface="Georgia"/>
              </a:rPr>
              <a:t>Who it's for.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6B6B7A"/>
                </a:solidFill>
                <a:latin typeface="Segoe UI"/>
              </a:rPr>
              <a:t>IntelliRecommend is built for retail category and planning teams. It plugs into your existing sales data, produces a ranked recommendation list per store with amounts and reasons, and exposes both a dashboard and a simple API for anything downstream.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11480"/>
            <a:ext cx="146304" cy="146304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1B24"/>
                </a:solidFill>
                <a:latin typeface="Segoe UI"/>
              </a:rPr>
              <a:t>INTELLIRECOMMEND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57200"/>
            <a:ext cx="5742432" cy="274320"/>
          </a:xfrm>
          <a:prstGeom prst="rect">
            <a:avLst/>
          </a:prstGeom>
          <a:noFill/>
        </p:spPr>
        <p:txBody>
          <a:bodyPr wrap="square" lIns="76200" tIns="38100" rIns="76200" bIns="3810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THE WORK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6B7A"/>
                </a:solidFill>
                <a:latin typeface="Segoe UI"/>
              </a:rPr>
              <a:t>The Work 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37960"/>
            <a:ext cx="6199632" cy="2743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6B7A"/>
                </a:solidFill>
                <a:latin typeface="Segoe UI"/>
              </a:rPr>
              <a:t>IntelliRecommend  /  10 of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1B24"/>
                </a:solidFill>
                <a:latin typeface="Georgia"/>
              </a:rPr>
              <a:t>What we're building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011680"/>
            <a:ext cx="1005840" cy="28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6B7A"/>
                </a:solidFill>
                <a:latin typeface="Segoe UI"/>
              </a:rPr>
              <a:t>Six focused streams of work, each one making IntelliRecommend friendlier, faster and more trustworthy.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788920"/>
            <a:ext cx="3520440" cy="109728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2990088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6B4A"/>
                </a:solidFill>
                <a:latin typeface="Georgia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" y="3566160"/>
            <a:ext cx="274320" cy="15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657600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1B24"/>
                </a:solidFill>
                <a:latin typeface="Georgia"/>
              </a:rPr>
              <a:t>Sharper AI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23360"/>
            <a:ext cx="306324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Richer explanations, grounded in real numbers, with clear next-step suggestions - and multi-model routing (Gemini, GPT, Claude).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788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62272" y="2788920"/>
            <a:ext cx="3520440" cy="109728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18304" y="2990088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C518"/>
                </a:solidFill>
                <a:latin typeface="Georgia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18304" y="3566160"/>
            <a:ext cx="274320" cy="15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8304" y="3657600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1B24"/>
                </a:solidFill>
                <a:latin typeface="Georgia"/>
              </a:rPr>
              <a:t>Smarter Chat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4023360"/>
            <a:ext cx="306324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Suggested prompts, action confirmations, and follow-up flows that remember where you left off.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4" y="278892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01584" y="2788920"/>
            <a:ext cx="3520440" cy="109728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7616" y="2990088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BAA9F"/>
                </a:solidFill>
                <a:latin typeface="Georgia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7616" y="3566160"/>
            <a:ext cx="274320" cy="15000"/>
          </a:xfrm>
          <a:prstGeom prst="rect">
            <a:avLst/>
          </a:prstGeom>
          <a:solidFill>
            <a:srgbClr val="6BA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57616" y="3657600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1B24"/>
                </a:solidFill>
                <a:latin typeface="Georgia"/>
              </a:rPr>
              <a:t>Refreshed Dashboard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4023360"/>
            <a:ext cx="306324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A cleaner workspace, sharper filters, and layouts that work on desktop and tablet.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00016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" y="4700016"/>
            <a:ext cx="3520440" cy="109728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901184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6B4A"/>
                </a:solidFill>
                <a:latin typeface="Georgia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" y="5477256"/>
            <a:ext cx="274320" cy="150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8992" y="5568696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1B24"/>
                </a:solidFill>
                <a:latin typeface="Georgia"/>
              </a:rPr>
              <a:t>Live Database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934456"/>
            <a:ext cx="306324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Plug straight into your SQL warehouse. Recommendations refresh automatically as your sales update.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62272" y="4700016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3E9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62272" y="4700016"/>
            <a:ext cx="3520440" cy="109728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18304" y="4901184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C518"/>
                </a:solidFill>
                <a:latin typeface="Georgia"/>
              </a:rP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18304" y="5477256"/>
            <a:ext cx="274320" cy="1500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18304" y="5568696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1B24"/>
                </a:solidFill>
                <a:latin typeface="Georgia"/>
              </a:rPr>
              <a:t>Bug-Fix &amp;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8304" y="5934456"/>
            <a:ext cx="3063240" cy="45720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6B7A"/>
                </a:solidFill>
                <a:latin typeface="Segoe UI"/>
              </a:rPr>
              <a:t>Automated tests, health checks and a proper regression suite so every release ships clean.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4901184"/>
            <a:ext cx="822960" cy="502920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2800" b="1" i="0" dirty="0">
              <a:solidFill>
                <a:srgbClr val="6BAA9F"/>
              </a:solidFill>
              <a:latin typeface="Georgi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357616" y="5568696"/>
            <a:ext cx="3063240" cy="402336"/>
          </a:xfrm>
          <a:prstGeom prst="rect">
            <a:avLst/>
          </a:prstGeom>
          <a:noFill/>
        </p:spPr>
        <p:txBody>
          <a:bodyPr wrap="square" lIns="76200" tIns="38100" rIns="76200" bIns="381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i="0" dirty="0">
              <a:solidFill>
                <a:srgbClr val="1B1B24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1065</Words>
  <Application>Microsoft Office PowerPoint</Application>
  <PresentationFormat>Widescreen</PresentationFormat>
  <Paragraphs>222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Mounika Badri</cp:lastModifiedBy>
  <cp:revision>1</cp:revision>
  <dcterms:created xsi:type="dcterms:W3CDTF">2013-01-27T09:14:16Z</dcterms:created>
  <dcterms:modified xsi:type="dcterms:W3CDTF">2026-07-13T10:36:29Z</dcterms:modified>
  <cp:category/>
</cp:coreProperties>
</file>